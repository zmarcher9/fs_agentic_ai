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9972cc6-83c1-2064-062b-1773cb85bca6}">
          <p14:sldIdLst>
            <p14:sldId id="256"/>
            <p14:sldId id="257"/>
            <p14:sldId id="258"/>
            <p14:sldId id="259"/>
          </p14:sldIdLst>
        </p14:section>
        <p14:section name="Running it" id="{097584ed-c795-4dfb-5990-107d8dde479f}">
          <p14:sldIdLst>
            <p14:sldId id="260"/>
            <p14:sldId id="261"/>
            <p14:sldId id="262"/>
          </p14:sldIdLst>
        </p14:section>
        <p14:section name="Status" id="{0aae4584-5835-3aa5-9095-c2844f93c68b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Q&amp;A helper is a chat assistant for FireMapSim. It answers how-to and background questions and highlights the matching control on the page, but it never operates the site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jobs: answer, point, and never act. The third is a hard design rule from Dr. Hu: the helper narrates and points, the user does every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agent loop and no tool use: each question is a single structured call that returns {reply, highlight}. Unknown highlight keys are dropped server-side.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replies are shortened from real answers the running server gave on 14 Oct 2026. Note the second one: it declines to act but still tells the user exactly what to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required setting is OPENROUTER_API_KEY; the server refuses to start without it. Everything else in .env.example has working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the API first; the terminal chat, demo, and guide all talk to it. The guide runs on your own machine, not in the 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Clients first POST /api/session, then send X-Session-Id on every /chat call. The demo and guide re-issue a session automatically on a 401.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comes from a 12-question comparison run on 6 Oct 2026: $0.093 total on Sonnet 5.5 at low effort, with zero failed checks. The old tool-calling design cost about $0.40 for the same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README lists these as open questions; for this deck we take the most reasonable answer to each. Wind from-direction matches how weather reports and most fire models state wind. The full to-do list is under Work remaining and Known issues in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prompts.py holds the system prompt and page layout; ui_steps.py holds the per-control instructions; guide.py is the local sidebar and highlighter.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0116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4612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1206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FireMapSim Q&amp;A Helper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zmarcher9/fs_agentic_ai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zmarcher9/fs_agentic_ai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2"/>
                </a:solidFill>
              </a:rPr>
              <a:t>SIMS LAB · GEORGIA STATE UNIVERSITY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0116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FireMapSim Q&amp;A Helper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4612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Plain-language answers for the wildfire simulation website. It explains and points; the user stays in control.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120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chemeClr val="bg1"/>
                </a:solidFill>
                <a:hlinkClick r:id="rId1" invalidUrl="" action="" tgtFrame="" tooltip="Open th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github.com/zmarcher9/fs_agentic_ai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Why the Q&amp;A helper exists</a:t>
            </a:r>
            <a:endParaRPr lang="en-US" sz="3600" dirty="0"/>
          </a:p>
        </p:txBody>
      </p:sp>
      <p:sp>
        <p:nvSpPr>
          <p:cNvPr id="3" name="Purpose intro"/>
          <p:cNvSpPr txBox="1"/>
          <p:nvPr/>
        </p:nvSpPr>
        <p:spPr>
          <a:xfrm>
            <a:off x="548640" y="13258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FireMapSim's users are farmers and land managers, not modelers. The helper lets them ask questions in their own words and shows them where to click.</a:t>
            </a:r>
            <a:endParaRPr lang="en-US" sz="1800" dirty="0"/>
          </a:p>
        </p:txBody>
      </p:sp>
      <p:sp>
        <p:nvSpPr>
          <p:cNvPr id="4" name="Purpose card 1"/>
          <p:cNvSpPr/>
          <p:nvPr/>
        </p:nvSpPr>
        <p:spPr>
          <a:xfrm>
            <a:off x="548640" y="237744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Step 1 marker"/>
          <p:cNvSpPr/>
          <p:nvPr/>
        </p:nvSpPr>
        <p:spPr>
          <a:xfrm>
            <a:off x="868680" y="274320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tep 1 number"/>
          <p:cNvSpPr txBox="1"/>
          <p:nvPr/>
        </p:nvSpPr>
        <p:spPr>
          <a:xfrm>
            <a:off x="8686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Purpose card 1 title"/>
          <p:cNvSpPr txBox="1"/>
          <p:nvPr/>
        </p:nvSpPr>
        <p:spPr>
          <a:xfrm>
            <a:off x="868680" y="34747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Answers questions</a:t>
            </a:r>
            <a:endParaRPr lang="en-US" sz="2200" dirty="0"/>
          </a:p>
        </p:txBody>
      </p:sp>
      <p:sp>
        <p:nvSpPr>
          <p:cNvPr id="8" name="Purpose card 1 body"/>
          <p:cNvSpPr txBox="1"/>
          <p:nvPr/>
        </p:nvSpPr>
        <p:spPr>
          <a:xfrm>
            <a:off x="868680" y="41148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“How do I set wind speed?” “What does Cell Resolution change?” Step-by-step how-tos and background, in plain text.</a:t>
            </a:r>
            <a:endParaRPr lang="en-US" sz="1600" dirty="0"/>
          </a:p>
        </p:txBody>
      </p:sp>
      <p:sp>
        <p:nvSpPr>
          <p:cNvPr id="9" name="Purpose card 2"/>
          <p:cNvSpPr/>
          <p:nvPr/>
        </p:nvSpPr>
        <p:spPr>
          <a:xfrm>
            <a:off x="4335628" y="237744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Step 2 marker"/>
          <p:cNvSpPr/>
          <p:nvPr/>
        </p:nvSpPr>
        <p:spPr>
          <a:xfrm>
            <a:off x="4655668" y="274320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4655668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Purpose card 2 title"/>
          <p:cNvSpPr txBox="1"/>
          <p:nvPr/>
        </p:nvSpPr>
        <p:spPr>
          <a:xfrm>
            <a:off x="4655668" y="34747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Points at controls</a:t>
            </a:r>
            <a:endParaRPr lang="en-US" sz="2200" dirty="0"/>
          </a:p>
        </p:txBody>
      </p:sp>
      <p:sp>
        <p:nvSpPr>
          <p:cNvPr id="13" name="Purpose card 2 body"/>
          <p:cNvSpPr txBox="1"/>
          <p:nvPr/>
        </p:nvSpPr>
        <p:spPr>
          <a:xfrm>
            <a:off x="4655668" y="41148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Each reply names up to 3 controls. The live guide outlines the first one on the FireMapSim page so the user can find it.</a:t>
            </a:r>
            <a:endParaRPr lang="en-US" sz="1600" dirty="0"/>
          </a:p>
        </p:txBody>
      </p:sp>
      <p:sp>
        <p:nvSpPr>
          <p:cNvPr id="14" name="Purpose card 3"/>
          <p:cNvSpPr/>
          <p:nvPr/>
        </p:nvSpPr>
        <p:spPr>
          <a:xfrm>
            <a:off x="8122615" y="237744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5" name="Step 3 marker"/>
          <p:cNvSpPr/>
          <p:nvPr/>
        </p:nvSpPr>
        <p:spPr>
          <a:xfrm>
            <a:off x="8442655" y="274320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Step 3 number"/>
          <p:cNvSpPr txBox="1"/>
          <p:nvPr/>
        </p:nvSpPr>
        <p:spPr>
          <a:xfrm>
            <a:off x="8442655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tep 3 marker inverted"/>
          <p:cNvSpPr/>
          <p:nvPr/>
        </p:nvSpPr>
        <p:spPr>
          <a:xfrm>
            <a:off x="8442655" y="274320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Step 3 number inverted"/>
          <p:cNvSpPr txBox="1"/>
          <p:nvPr/>
        </p:nvSpPr>
        <p:spPr>
          <a:xfrm>
            <a:off x="8442655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Purpose card 3 title"/>
          <p:cNvSpPr txBox="1"/>
          <p:nvPr/>
        </p:nvSpPr>
        <p:spPr>
          <a:xfrm>
            <a:off x="8442655" y="34747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Never operates the site</a:t>
            </a:r>
            <a:endParaRPr lang="en-US" sz="2200" dirty="0"/>
          </a:p>
        </p:txBody>
      </p:sp>
      <p:sp>
        <p:nvSpPr>
          <p:cNvPr id="20" name="Purpose card 3 body"/>
          <p:cNvSpPr txBox="1"/>
          <p:nvPr/>
        </p:nvSpPr>
        <p:spPr>
          <a:xfrm>
            <a:off x="8442655" y="41148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It won’t move the map, fill in fields, click buttons, or start runs. It tells the user what to do instead.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How a question gets answered</a:t>
            </a:r>
            <a:endParaRPr lang="en-US" sz="3600" dirty="0"/>
          </a:p>
        </p:txBody>
      </p:sp>
      <p:sp>
        <p:nvSpPr>
          <p:cNvPr id="3" name="Flow step 1"/>
          <p:cNvSpPr/>
          <p:nvPr/>
        </p:nvSpPr>
        <p:spPr>
          <a:xfrm>
            <a:off x="548640" y="1554480"/>
            <a:ext cx="251460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Flow step 1 number"/>
          <p:cNvSpPr txBox="1"/>
          <p:nvPr/>
        </p:nvSpPr>
        <p:spPr>
          <a:xfrm>
            <a:off x="82296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01</a:t>
            </a:r>
            <a:endParaRPr lang="en-US" sz="1600" dirty="0"/>
          </a:p>
        </p:txBody>
      </p:sp>
      <p:sp>
        <p:nvSpPr>
          <p:cNvPr id="5" name="Flow step 1 title"/>
          <p:cNvSpPr txBox="1"/>
          <p:nvPr/>
        </p:nvSpPr>
        <p:spPr>
          <a:xfrm>
            <a:off x="82296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User asks</a:t>
            </a:r>
            <a:endParaRPr lang="en-US" sz="2000" dirty="0"/>
          </a:p>
        </p:txBody>
      </p:sp>
      <p:sp>
        <p:nvSpPr>
          <p:cNvPr id="6" name="Flow step 1 body"/>
          <p:cNvSpPr txBox="1"/>
          <p:nvPr/>
        </p:nvSpPr>
        <p:spPr>
          <a:xfrm>
            <a:off x="822960" y="27889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In the guide sidebar on FireMapSim, the terminal chat, or any HTTP client</a:t>
            </a:r>
            <a:endParaRPr lang="en-US" sz="1400" dirty="0"/>
          </a:p>
        </p:txBody>
      </p:sp>
      <p:sp>
        <p:nvSpPr>
          <p:cNvPr id="7" name="Flow arrow 1"/>
          <p:cNvSpPr/>
          <p:nvPr/>
        </p:nvSpPr>
        <p:spPr>
          <a:xfrm>
            <a:off x="3118104" y="2788920"/>
            <a:ext cx="23561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8" name="Flow step 2"/>
          <p:cNvSpPr/>
          <p:nvPr/>
        </p:nvSpPr>
        <p:spPr>
          <a:xfrm>
            <a:off x="3408578" y="1554480"/>
            <a:ext cx="251460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Flow step 2 number"/>
          <p:cNvSpPr txBox="1"/>
          <p:nvPr/>
        </p:nvSpPr>
        <p:spPr>
          <a:xfrm>
            <a:off x="3682898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Flow step 2 title"/>
          <p:cNvSpPr txBox="1"/>
          <p:nvPr/>
        </p:nvSpPr>
        <p:spPr>
          <a:xfrm>
            <a:off x="3682898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API checks</a:t>
            </a:r>
            <a:endParaRPr lang="en-US" sz="2000" dirty="0"/>
          </a:p>
        </p:txBody>
      </p:sp>
      <p:sp>
        <p:nvSpPr>
          <p:cNvPr id="11" name="Flow step 2 body"/>
          <p:cNvSpPr txBox="1"/>
          <p:nvPr/>
        </p:nvSpPr>
        <p:spPr>
          <a:xfrm>
            <a:off x="3682898" y="27889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FastAPI /chat verifies the session, rate limit, and token budget</a:t>
            </a:r>
            <a:endParaRPr lang="en-US" sz="1400" dirty="0"/>
          </a:p>
        </p:txBody>
      </p:sp>
      <p:sp>
        <p:nvSpPr>
          <p:cNvPr id="12" name="Flow arrow 2"/>
          <p:cNvSpPr/>
          <p:nvPr/>
        </p:nvSpPr>
        <p:spPr>
          <a:xfrm>
            <a:off x="5978042" y="2788920"/>
            <a:ext cx="23561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3" name="Flow step 3"/>
          <p:cNvSpPr/>
          <p:nvPr/>
        </p:nvSpPr>
        <p:spPr>
          <a:xfrm>
            <a:off x="6268517" y="1554480"/>
            <a:ext cx="251460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Flow step 3 number"/>
          <p:cNvSpPr txBox="1"/>
          <p:nvPr/>
        </p:nvSpPr>
        <p:spPr>
          <a:xfrm>
            <a:off x="6542837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Flow step 3 title"/>
          <p:cNvSpPr txBox="1"/>
          <p:nvPr/>
        </p:nvSpPr>
        <p:spPr>
          <a:xfrm>
            <a:off x="6542837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One model call</a:t>
            </a:r>
            <a:endParaRPr lang="en-US" sz="2000" dirty="0"/>
          </a:p>
        </p:txBody>
      </p:sp>
      <p:sp>
        <p:nvSpPr>
          <p:cNvPr id="16" name="Flow step 3 body"/>
          <p:cNvSpPr txBox="1"/>
          <p:nvPr/>
        </p:nvSpPr>
        <p:spPr>
          <a:xfrm>
            <a:off x="6542837" y="27889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Claude Sonnet 5.5 via OpenRouter. Cached system prompt, no tools</a:t>
            </a:r>
            <a:endParaRPr lang="en-US" sz="1400" dirty="0"/>
          </a:p>
        </p:txBody>
      </p:sp>
      <p:sp>
        <p:nvSpPr>
          <p:cNvPr id="17" name="Flow arrow 3"/>
          <p:cNvSpPr/>
          <p:nvPr/>
        </p:nvSpPr>
        <p:spPr>
          <a:xfrm>
            <a:off x="8837981" y="2788920"/>
            <a:ext cx="23561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18" name="Flow step 4"/>
          <p:cNvSpPr/>
          <p:nvPr/>
        </p:nvSpPr>
        <p:spPr>
          <a:xfrm>
            <a:off x="9128455" y="1554480"/>
            <a:ext cx="251460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9" name="Flow step 4 number"/>
          <p:cNvSpPr txBox="1"/>
          <p:nvPr/>
        </p:nvSpPr>
        <p:spPr>
          <a:xfrm>
            <a:off x="9402775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Flow step 4 title"/>
          <p:cNvSpPr txBox="1"/>
          <p:nvPr/>
        </p:nvSpPr>
        <p:spPr>
          <a:xfrm>
            <a:off x="9402775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Reply + highlight</a:t>
            </a:r>
            <a:endParaRPr lang="en-US" sz="2000" dirty="0"/>
          </a:p>
        </p:txBody>
      </p:sp>
      <p:sp>
        <p:nvSpPr>
          <p:cNvPr id="21" name="Flow step 4 body"/>
          <p:cNvSpPr txBox="1"/>
          <p:nvPr/>
        </p:nvSpPr>
        <p:spPr>
          <a:xfrm>
            <a:off x="9402775" y="27889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Plain-text answer plus up to 3 control keys for the guide to outline</a:t>
            </a:r>
            <a:endParaRPr lang="en-US" sz="1400" dirty="0"/>
          </a:p>
        </p:txBody>
      </p:sp>
      <p:sp>
        <p:nvSpPr>
          <p:cNvPr id="22" name="Fact 1"/>
          <p:cNvSpPr txBox="1"/>
          <p:nvPr/>
        </p:nvSpPr>
        <p:spPr>
          <a:xfrm>
            <a:off x="548640" y="4480560"/>
            <a:ext cx="3515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GROUNDED IN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The SIMS Lab project report (Wei Zhao, July 2025) and Dr. Hu’s usage notes</a:t>
            </a:r>
            <a:endParaRPr lang="en-US" sz="1200" dirty="0"/>
          </a:p>
        </p:txBody>
      </p:sp>
      <p:sp>
        <p:nvSpPr>
          <p:cNvPr id="23" name="Fact 2"/>
          <p:cNvSpPr txBox="1"/>
          <p:nvPr/>
        </p:nvSpPr>
        <p:spPr>
          <a:xfrm>
            <a:off x="4338218" y="4480560"/>
            <a:ext cx="3515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KNOWS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34 FireMapSim controls, each with step-by-step instructions in ui_steps.py</a:t>
            </a:r>
            <a:endParaRPr lang="en-US" sz="1200" dirty="0"/>
          </a:p>
        </p:txBody>
      </p:sp>
      <p:sp>
        <p:nvSpPr>
          <p:cNvPr id="24" name="Fact 3"/>
          <p:cNvSpPr txBox="1"/>
          <p:nvPr/>
        </p:nvSpPr>
        <p:spPr>
          <a:xfrm>
            <a:off x="8127797" y="4480560"/>
            <a:ext cx="3515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REMEMBERS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The last 6 exchanges of the conversation, per session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a conversation looks like</a:t>
            </a:r>
            <a:endParaRPr lang="en-US" sz="3600" dirty="0"/>
          </a:p>
        </p:txBody>
      </p:sp>
      <p:sp>
        <p:nvSpPr>
          <p:cNvPr id="3" name="Example 1 card"/>
          <p:cNvSpPr/>
          <p:nvPr/>
        </p:nvSpPr>
        <p:spPr>
          <a:xfrm>
            <a:off x="548640" y="1463040"/>
            <a:ext cx="5410048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Example 1 label"/>
          <p:cNvSpPr txBox="1"/>
          <p:nvPr/>
        </p:nvSpPr>
        <p:spPr>
          <a:xfrm>
            <a:off x="914400" y="178308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A HOW-TO QUESTION</a:t>
            </a:r>
            <a:endParaRPr lang="en-US" sz="1200" dirty="0"/>
          </a:p>
        </p:txBody>
      </p:sp>
      <p:sp>
        <p:nvSpPr>
          <p:cNvPr id="5" name="Example 1 question"/>
          <p:cNvSpPr txBox="1"/>
          <p:nvPr/>
        </p:nvSpPr>
        <p:spPr>
          <a:xfrm>
            <a:off x="914400" y="219456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“How do I set wind speed?”</a:t>
            </a:r>
            <a:endParaRPr lang="en-US" sz="2200" dirty="0"/>
          </a:p>
        </p:txBody>
      </p:sp>
      <p:sp>
        <p:nvSpPr>
          <p:cNvPr id="6" name="Example 1 reply"/>
          <p:cNvSpPr txBox="1"/>
          <p:nvPr/>
        </p:nvSpPr>
        <p:spPr>
          <a:xfrm>
            <a:off x="914400" y="2926080"/>
            <a:ext cx="4678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Wind Speed is a number box in the settings row, right after Simulation Duration. Click it and type the speed in km/h (0 to 100). Use Wind Degree next to it for direction.</a:t>
            </a:r>
            <a:endParaRPr lang="en-US" sz="1800" dirty="0"/>
          </a:p>
        </p:txBody>
      </p:sp>
      <p:sp>
        <p:nvSpPr>
          <p:cNvPr id="7" name="Example 1 highlight label"/>
          <p:cNvSpPr txBox="1"/>
          <p:nvPr/>
        </p:nvSpPr>
        <p:spPr>
          <a:xfrm>
            <a:off x="91440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HIGHLIGHTED</a:t>
            </a:r>
            <a:endParaRPr lang="en-US" sz="1100" dirty="0"/>
          </a:p>
        </p:txBody>
      </p:sp>
      <p:sp>
        <p:nvSpPr>
          <p:cNvPr id="8" name="Example 1 chip 1"/>
          <p:cNvSpPr/>
          <p:nvPr/>
        </p:nvSpPr>
        <p:spPr>
          <a:xfrm>
            <a:off x="914400" y="4983480"/>
            <a:ext cx="12801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Example 1 chip 1 label"/>
          <p:cNvSpPr txBox="1"/>
          <p:nvPr/>
        </p:nvSpPr>
        <p:spPr>
          <a:xfrm>
            <a:off x="914400" y="4983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wind_speed</a:t>
            </a:r>
            <a:endParaRPr lang="en-US" sz="1200" dirty="0"/>
          </a:p>
        </p:txBody>
      </p:sp>
      <p:sp>
        <p:nvSpPr>
          <p:cNvPr id="10" name="Example 1 chip 2"/>
          <p:cNvSpPr/>
          <p:nvPr/>
        </p:nvSpPr>
        <p:spPr>
          <a:xfrm>
            <a:off x="2331720" y="4983480"/>
            <a:ext cx="1367028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Example 1 chip 2 label"/>
          <p:cNvSpPr txBox="1"/>
          <p:nvPr/>
        </p:nvSpPr>
        <p:spPr>
          <a:xfrm>
            <a:off x="2331720" y="4983480"/>
            <a:ext cx="136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wind_degree</a:t>
            </a:r>
            <a:endParaRPr lang="en-US" sz="1200" dirty="0"/>
          </a:p>
        </p:txBody>
      </p:sp>
      <p:sp>
        <p:nvSpPr>
          <p:cNvPr id="12" name="Example 2 card"/>
          <p:cNvSpPr/>
          <p:nvPr/>
        </p:nvSpPr>
        <p:spPr>
          <a:xfrm>
            <a:off x="6233008" y="1463040"/>
            <a:ext cx="5410048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Example 2 label"/>
          <p:cNvSpPr txBox="1"/>
          <p:nvPr/>
        </p:nvSpPr>
        <p:spPr>
          <a:xfrm>
            <a:off x="6598768" y="178308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A REQUEST TO ACT</a:t>
            </a:r>
            <a:endParaRPr lang="en-US" sz="1200" dirty="0"/>
          </a:p>
        </p:txBody>
      </p:sp>
      <p:sp>
        <p:nvSpPr>
          <p:cNvPr id="14" name="Example 2 question"/>
          <p:cNvSpPr txBox="1"/>
          <p:nvPr/>
        </p:nvSpPr>
        <p:spPr>
          <a:xfrm>
            <a:off x="6598768" y="219456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“Can you start a simulation for me?”</a:t>
            </a:r>
            <a:endParaRPr lang="en-US" sz="2200" dirty="0"/>
          </a:p>
        </p:txBody>
      </p:sp>
      <p:sp>
        <p:nvSpPr>
          <p:cNvPr id="15" name="Example 2 reply"/>
          <p:cNvSpPr txBox="1"/>
          <p:nvPr/>
        </p:nvSpPr>
        <p:spPr>
          <a:xfrm>
            <a:off x="6598768" y="2926080"/>
            <a:ext cx="4678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I can’t click anything on the site for you, but here’s how to start a run yourself: check your project area, ignition lines and settings, then click Start Simulation Run.</a:t>
            </a:r>
            <a:endParaRPr lang="en-US" sz="1800" dirty="0"/>
          </a:p>
        </p:txBody>
      </p:sp>
      <p:sp>
        <p:nvSpPr>
          <p:cNvPr id="16" name="Example 2 highlight label"/>
          <p:cNvSpPr txBox="1"/>
          <p:nvPr/>
        </p:nvSpPr>
        <p:spPr>
          <a:xfrm>
            <a:off x="6598768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HIGHLIGHTED</a:t>
            </a:r>
            <a:endParaRPr lang="en-US" sz="1100" dirty="0"/>
          </a:p>
        </p:txBody>
      </p:sp>
      <p:sp>
        <p:nvSpPr>
          <p:cNvPr id="17" name="Example 2 chip 1"/>
          <p:cNvSpPr/>
          <p:nvPr/>
        </p:nvSpPr>
        <p:spPr>
          <a:xfrm>
            <a:off x="6598768" y="4983480"/>
            <a:ext cx="1801368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Example 2 chip 1 label"/>
          <p:cNvSpPr txBox="1"/>
          <p:nvPr/>
        </p:nvSpPr>
        <p:spPr>
          <a:xfrm>
            <a:off x="6598768" y="498348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start_simulation</a:t>
            </a:r>
            <a:endParaRPr lang="en-US" sz="1200" dirty="0"/>
          </a:p>
        </p:txBody>
      </p:sp>
      <p:sp>
        <p:nvSpPr>
          <p:cNvPr id="19" name="Example 2 chip 2"/>
          <p:cNvSpPr/>
          <p:nvPr/>
        </p:nvSpPr>
        <p:spPr>
          <a:xfrm>
            <a:off x="8537296" y="4983480"/>
            <a:ext cx="1453896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0" name="Example 2 chip 2 label"/>
          <p:cNvSpPr txBox="1"/>
          <p:nvPr/>
        </p:nvSpPr>
        <p:spPr>
          <a:xfrm>
            <a:off x="8537296" y="4983480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show_results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Setup: clone, install, configure</a:t>
            </a:r>
            <a:endParaRPr lang="en-US" sz="3600" dirty="0"/>
          </a:p>
        </p:txBody>
      </p:sp>
      <p:sp>
        <p:nvSpPr>
          <p:cNvPr id="3" name="Step 1 marker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etup 1 title"/>
          <p:cNvSpPr txBox="1"/>
          <p:nvPr/>
        </p:nvSpPr>
        <p:spPr>
          <a:xfrm>
            <a:off x="128016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Clone the repo</a:t>
            </a:r>
            <a:endParaRPr lang="en-US" sz="2000" dirty="0"/>
          </a:p>
        </p:txBody>
      </p:sp>
      <p:sp>
        <p:nvSpPr>
          <p:cNvPr id="6" name="Setup 1 body"/>
          <p:cNvSpPr txBox="1"/>
          <p:nvPr/>
        </p:nvSpPr>
        <p:spPr>
          <a:xfrm>
            <a:off x="1280160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From GitHub</a:t>
            </a:r>
            <a:endParaRPr lang="en-US" sz="1400" dirty="0"/>
          </a:p>
        </p:txBody>
      </p:sp>
      <p:sp>
        <p:nvSpPr>
          <p:cNvPr id="7" name="Setup 1 code"/>
          <p:cNvSpPr/>
          <p:nvPr/>
        </p:nvSpPr>
        <p:spPr>
          <a:xfrm>
            <a:off x="4572000" y="1463040"/>
            <a:ext cx="7071055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Setup 1 code text"/>
          <p:cNvSpPr txBox="1"/>
          <p:nvPr/>
        </p:nvSpPr>
        <p:spPr>
          <a:xfrm>
            <a:off x="4800600" y="1463040"/>
            <a:ext cx="66138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https://github.com/zmarcher9/fs_agentic_ai.git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fs_agentic_ai</a:t>
            </a:r>
            <a:endParaRPr lang="en-US" sz="1400" dirty="0"/>
          </a:p>
        </p:txBody>
      </p:sp>
      <p:sp>
        <p:nvSpPr>
          <p:cNvPr id="9" name="Step 2 marker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tep 2 number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etup 2 title"/>
          <p:cNvSpPr txBox="1"/>
          <p:nvPr/>
        </p:nvSpPr>
        <p:spPr>
          <a:xfrm>
            <a:off x="128016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Install dependencies</a:t>
            </a:r>
            <a:endParaRPr lang="en-US" sz="2000" dirty="0"/>
          </a:p>
        </p:txBody>
      </p:sp>
      <p:sp>
        <p:nvSpPr>
          <p:cNvPr id="12" name="Setup 2 body"/>
          <p:cNvSpPr txBox="1"/>
          <p:nvPr/>
        </p:nvSpPr>
        <p:spPr>
          <a:xfrm>
            <a:off x="128016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Python 3.11+. Chromium is only needed for the live guide</a:t>
            </a:r>
            <a:endParaRPr lang="en-US" sz="1400" dirty="0"/>
          </a:p>
        </p:txBody>
      </p:sp>
      <p:sp>
        <p:nvSpPr>
          <p:cNvPr id="13" name="Setup 2 code"/>
          <p:cNvSpPr/>
          <p:nvPr/>
        </p:nvSpPr>
        <p:spPr>
          <a:xfrm>
            <a:off x="4572000" y="3017520"/>
            <a:ext cx="7071055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Setup 2 code text"/>
          <p:cNvSpPr txBox="1"/>
          <p:nvPr/>
        </p:nvSpPr>
        <p:spPr>
          <a:xfrm>
            <a:off x="4800600" y="3017520"/>
            <a:ext cx="66138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pip install -r requirements.txt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playwright install chromium</a:t>
            </a:r>
            <a:endParaRPr lang="en-US" sz="1400" dirty="0"/>
          </a:p>
        </p:txBody>
      </p:sp>
      <p:sp>
        <p:nvSpPr>
          <p:cNvPr id="15" name="Step 3 marker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Step 3 number"/>
          <p:cNvSpPr txBox="1"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etup 3 title"/>
          <p:cNvSpPr txBox="1"/>
          <p:nvPr/>
        </p:nvSpPr>
        <p:spPr>
          <a:xfrm>
            <a:off x="128016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Add your API key</a:t>
            </a:r>
            <a:endParaRPr lang="en-US" sz="2000" dirty="0"/>
          </a:p>
        </p:txBody>
      </p:sp>
      <p:sp>
        <p:nvSpPr>
          <p:cNvPr id="18" name="Setup 3 body"/>
          <p:cNvSpPr txBox="1"/>
          <p:nvPr/>
        </p:nvSpPr>
        <p:spPr>
          <a:xfrm>
            <a:off x="1280160" y="5166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Copy .env.example to .env and fill in the OpenRouter key</a:t>
            </a:r>
            <a:endParaRPr lang="en-US" sz="1400" dirty="0"/>
          </a:p>
        </p:txBody>
      </p:sp>
      <p:sp>
        <p:nvSpPr>
          <p:cNvPr id="19" name="Setup 3 code"/>
          <p:cNvSpPr/>
          <p:nvPr/>
        </p:nvSpPr>
        <p:spPr>
          <a:xfrm>
            <a:off x="4572000" y="4572000"/>
            <a:ext cx="7071055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Setup 3 code text"/>
          <p:cNvSpPr txBox="1"/>
          <p:nvPr/>
        </p:nvSpPr>
        <p:spPr>
          <a:xfrm>
            <a:off x="4800600" y="4572000"/>
            <a:ext cx="66138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OPENROUTER_API_KEY=sk-or-v1-...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FIREMAP_URL=http://localhost:5173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Running it</a:t>
            </a:r>
            <a:endParaRPr lang="en-US" sz="3600" dirty="0"/>
          </a:p>
        </p:txBody>
      </p:sp>
      <p:sp>
        <p:nvSpPr>
          <p:cNvPr id="3" name="Run card 1"/>
          <p:cNvSpPr/>
          <p:nvPr/>
        </p:nvSpPr>
        <p:spPr>
          <a:xfrm>
            <a:off x="548640" y="1417320"/>
            <a:ext cx="5410048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Run card 1 title"/>
          <p:cNvSpPr txBox="1"/>
          <p:nvPr/>
        </p:nvSpPr>
        <p:spPr>
          <a:xfrm>
            <a:off x="868680" y="164592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Start the API</a:t>
            </a:r>
            <a:endParaRPr lang="en-US" sz="2000" dirty="0"/>
          </a:p>
        </p:txBody>
      </p:sp>
      <p:sp>
        <p:nvSpPr>
          <p:cNvPr id="5" name="Run card 1 code"/>
          <p:cNvSpPr txBox="1"/>
          <p:nvPr/>
        </p:nvSpPr>
        <p:spPr>
          <a:xfrm>
            <a:off x="868680" y="2148840"/>
            <a:ext cx="476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uvicorn api.main:app --port 8000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or: docker compose up --build</a:t>
            </a:r>
            <a:endParaRPr lang="en-US" sz="1400" dirty="0"/>
          </a:p>
        </p:txBody>
      </p:sp>
      <p:sp>
        <p:nvSpPr>
          <p:cNvPr id="6" name="Run card 1 note"/>
          <p:cNvSpPr txBox="1"/>
          <p:nvPr/>
        </p:nvSpPr>
        <p:spPr>
          <a:xfrm>
            <a:off x="868680" y="2971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exactly one worker. Sessions and limits live in memory.</a:t>
            </a:r>
            <a:endParaRPr lang="en-US" sz="1400" dirty="0"/>
          </a:p>
        </p:txBody>
      </p:sp>
      <p:sp>
        <p:nvSpPr>
          <p:cNvPr id="7" name="Run card 2"/>
          <p:cNvSpPr/>
          <p:nvPr/>
        </p:nvSpPr>
        <p:spPr>
          <a:xfrm>
            <a:off x="6233008" y="1417320"/>
            <a:ext cx="5410048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Run card 2 title"/>
          <p:cNvSpPr txBox="1"/>
          <p:nvPr/>
        </p:nvSpPr>
        <p:spPr>
          <a:xfrm>
            <a:off x="6553048" y="164592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Check it’s up</a:t>
            </a:r>
            <a:endParaRPr lang="en-US" sz="2000" dirty="0"/>
          </a:p>
        </p:txBody>
      </p:sp>
      <p:sp>
        <p:nvSpPr>
          <p:cNvPr id="9" name="Run card 2 code"/>
          <p:cNvSpPr txBox="1"/>
          <p:nvPr/>
        </p:nvSpPr>
        <p:spPr>
          <a:xfrm>
            <a:off x="6553048" y="2148840"/>
            <a:ext cx="476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Invoke-RestMethod http://localhost:8000/health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{status: ready, version: 0.1.0}</a:t>
            </a:r>
            <a:endParaRPr lang="en-US" sz="1400" dirty="0"/>
          </a:p>
        </p:txBody>
      </p:sp>
      <p:sp>
        <p:nvSpPr>
          <p:cNvPr id="10" name="Run card 2 note"/>
          <p:cNvSpPr txBox="1"/>
          <p:nvPr/>
        </p:nvSpPr>
        <p:spPr>
          <a:xfrm>
            <a:off x="6553048" y="2971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Liveness only. No browser runs on the server.</a:t>
            </a:r>
            <a:endParaRPr lang="en-US" sz="1400" dirty="0"/>
          </a:p>
        </p:txBody>
      </p:sp>
      <p:sp>
        <p:nvSpPr>
          <p:cNvPr id="11" name="Run card 3"/>
          <p:cNvSpPr/>
          <p:nvPr/>
        </p:nvSpPr>
        <p:spPr>
          <a:xfrm>
            <a:off x="548640" y="3886200"/>
            <a:ext cx="5410048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Run card 3 title"/>
          <p:cNvSpPr txBox="1"/>
          <p:nvPr/>
        </p:nvSpPr>
        <p:spPr>
          <a:xfrm>
            <a:off x="868680" y="411480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Chat from a terminal</a:t>
            </a:r>
            <a:endParaRPr lang="en-US" sz="2000" dirty="0"/>
          </a:p>
        </p:txBody>
      </p:sp>
      <p:sp>
        <p:nvSpPr>
          <p:cNvPr id="13" name="Run card 3 code"/>
          <p:cNvSpPr txBox="1"/>
          <p:nvPr/>
        </p:nvSpPr>
        <p:spPr>
          <a:xfrm>
            <a:off x="868680" y="4617720"/>
            <a:ext cx="476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.\scripts\chat.ps1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demo/run_demo.py</a:t>
            </a:r>
            <a:endParaRPr lang="en-US" sz="1400" dirty="0"/>
          </a:p>
        </p:txBody>
      </p:sp>
      <p:sp>
        <p:nvSpPr>
          <p:cNvPr id="14" name="Run card 3 note"/>
          <p:cNvSpPr txBox="1"/>
          <p:nvPr/>
        </p:nvSpPr>
        <p:spPr>
          <a:xfrm>
            <a:off x="868680" y="54406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demo walks through 10 typical questions (press Enter to begin).</a:t>
            </a:r>
            <a:endParaRPr lang="en-US" sz="1400" dirty="0"/>
          </a:p>
        </p:txBody>
      </p:sp>
      <p:sp>
        <p:nvSpPr>
          <p:cNvPr id="15" name="Run card 4"/>
          <p:cNvSpPr/>
          <p:nvPr/>
        </p:nvSpPr>
        <p:spPr>
          <a:xfrm>
            <a:off x="6233008" y="3886200"/>
            <a:ext cx="5410048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Run card 4 title"/>
          <p:cNvSpPr txBox="1"/>
          <p:nvPr/>
        </p:nvSpPr>
        <p:spPr>
          <a:xfrm>
            <a:off x="6553048" y="411480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Use the live guide</a:t>
            </a:r>
            <a:endParaRPr lang="en-US" sz="2000" dirty="0"/>
          </a:p>
        </p:txBody>
      </p:sp>
      <p:sp>
        <p:nvSpPr>
          <p:cNvPr id="17" name="Run card 4 code"/>
          <p:cNvSpPr txBox="1"/>
          <p:nvPr/>
        </p:nvSpPr>
        <p:spPr>
          <a:xfrm>
            <a:off x="6553048" y="4617720"/>
            <a:ext cx="476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playwright/guide.py</a:t>
            </a:r>
            <a:endParaRPr lang="en-US" sz="1400" dirty="0"/>
          </a:p>
        </p:txBody>
      </p:sp>
      <p:sp>
        <p:nvSpPr>
          <p:cNvPr id="18" name="Run card 4 note"/>
          <p:cNvSpPr txBox="1"/>
          <p:nvPr/>
        </p:nvSpPr>
        <p:spPr>
          <a:xfrm>
            <a:off x="6553048" y="54406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Needs FireMapSim at FIREMAP_URL. Adds an orange chat button, bottom-right.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HTTP API at a glance</a:t>
            </a:r>
            <a:endParaRPr lang="en-US" sz="3600" dirty="0"/>
          </a:p>
        </p:txBody>
      </p:sp>
      <p:graphicFrame>
        <p:nvGraphicFramePr>
          <p:cNvPr id="8" name="API endpoi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52422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</a:rPr>
                        <a:t>ENDPOINT</a:t>
                      </a:r>
                      <a:endParaRPr lang="en-US" sz="12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</a:rPr>
                        <a:t>WHAT IT DOES</a:t>
                      </a:r>
                      <a:endParaRPr lang="en-US" sz="12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/health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Liveness check</a:t>
                      </a:r>
                      <a:endParaRPr lang="en-US" sz="15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Returns status “ready” and the version</a:t>
                      </a:r>
                      <a:endParaRPr lang="en-US" sz="15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/api/session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Issues a session token</a:t>
                      </a:r>
                      <a:endParaRPr lang="en-US" sz="15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Up to 20 new sessions per minute per IP</a:t>
                      </a:r>
                      <a:endParaRPr lang="en-US" sz="15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/chat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Answers one question</a:t>
                      </a:r>
                      <a:endParaRPr lang="en-US" sz="15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Header X-Session-Id; body {message}, 1–2,000 chars. Returns reply + highlight</a:t>
                      </a:r>
                      <a:endParaRPr lang="en-US" sz="15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4" name="Errors label"/>
          <p:cNvSpPr txBox="1"/>
          <p:nvPr/>
        </p:nvSpPr>
        <p:spPr>
          <a:xfrm>
            <a:off x="54864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ERROR RESPONSES</a:t>
            </a:r>
            <a:endParaRPr lang="en-US" sz="1200" dirty="0"/>
          </a:p>
        </p:txBody>
      </p:sp>
      <p:sp>
        <p:nvSpPr>
          <p:cNvPr id="5" name="Error chip 1"/>
          <p:cNvSpPr/>
          <p:nvPr/>
        </p:nvSpPr>
        <p:spPr>
          <a:xfrm>
            <a:off x="548640" y="5029200"/>
            <a:ext cx="2061972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Error chip 1 label"/>
          <p:cNvSpPr txBox="1"/>
          <p:nvPr/>
        </p:nvSpPr>
        <p:spPr>
          <a:xfrm>
            <a:off x="548640" y="5029200"/>
            <a:ext cx="2061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thread mismatch</a:t>
            </a:r>
            <a:endParaRPr lang="en-US" sz="1200" dirty="0"/>
          </a:p>
        </p:txBody>
      </p:sp>
      <p:sp>
        <p:nvSpPr>
          <p:cNvPr id="7" name="Error chip 2"/>
          <p:cNvSpPr/>
          <p:nvPr/>
        </p:nvSpPr>
        <p:spPr>
          <a:xfrm>
            <a:off x="2793492" y="5029200"/>
            <a:ext cx="17145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Error chip 2 label"/>
          <p:cNvSpPr txBox="1"/>
          <p:nvPr/>
        </p:nvSpPr>
        <p:spPr>
          <a:xfrm>
            <a:off x="2793492" y="5029200"/>
            <a:ext cx="171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 bad session</a:t>
            </a:r>
            <a:endParaRPr lang="en-US" sz="1200" dirty="0"/>
          </a:p>
        </p:txBody>
      </p:sp>
      <p:sp>
        <p:nvSpPr>
          <p:cNvPr id="9" name="Error chip 3"/>
          <p:cNvSpPr/>
          <p:nvPr/>
        </p:nvSpPr>
        <p:spPr>
          <a:xfrm>
            <a:off x="4690872" y="5029200"/>
            <a:ext cx="1801368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0" name="Error chip 3 label"/>
          <p:cNvSpPr txBox="1"/>
          <p:nvPr/>
        </p:nvSpPr>
        <p:spPr>
          <a:xfrm>
            <a:off x="4690872" y="502920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422 invalid body</a:t>
            </a:r>
            <a:endParaRPr lang="en-US" sz="1200" dirty="0"/>
          </a:p>
        </p:txBody>
      </p:sp>
      <p:sp>
        <p:nvSpPr>
          <p:cNvPr id="11" name="Error chip 4"/>
          <p:cNvSpPr/>
          <p:nvPr/>
        </p:nvSpPr>
        <p:spPr>
          <a:xfrm>
            <a:off x="6675120" y="5029200"/>
            <a:ext cx="2409444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Error chip 4 label"/>
          <p:cNvSpPr txBox="1"/>
          <p:nvPr/>
        </p:nvSpPr>
        <p:spPr>
          <a:xfrm>
            <a:off x="6675120" y="5029200"/>
            <a:ext cx="2409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429 rate limit / budget</a:t>
            </a:r>
            <a:endParaRPr lang="en-US" sz="1200" dirty="0"/>
          </a:p>
        </p:txBody>
      </p:sp>
      <p:sp>
        <p:nvSpPr>
          <p:cNvPr id="13" name="Error chip 5"/>
          <p:cNvSpPr/>
          <p:nvPr/>
        </p:nvSpPr>
        <p:spPr>
          <a:xfrm>
            <a:off x="9267444" y="5029200"/>
            <a:ext cx="17145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Error chip 5 label"/>
          <p:cNvSpPr txBox="1"/>
          <p:nvPr/>
        </p:nvSpPr>
        <p:spPr>
          <a:xfrm>
            <a:off x="9267444" y="5029200"/>
            <a:ext cx="171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agent error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Tested, contained, and cheap to run</a:t>
            </a:r>
            <a:endParaRPr lang="en-US" sz="3600" dirty="0"/>
          </a:p>
        </p:txBody>
      </p:sp>
      <p:sp>
        <p:nvSpPr>
          <p:cNvPr id="3" name="Stat 1 card"/>
          <p:cNvSpPr/>
          <p:nvPr/>
        </p:nvSpPr>
        <p:spPr>
          <a:xfrm>
            <a:off x="548640" y="1463040"/>
            <a:ext cx="2567864" cy="2651760"/>
          </a:xfrm>
          <a:prstGeom prst="roundRect">
            <a:avLst>
              <a:gd name="adj" fmla="val 4273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Stat 1 number"/>
          <p:cNvSpPr txBox="1"/>
          <p:nvPr/>
        </p:nvSpPr>
        <p:spPr>
          <a:xfrm>
            <a:off x="822960" y="16916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151</a:t>
            </a:r>
            <a:endParaRPr lang="en-US" sz="4800" dirty="0"/>
          </a:p>
        </p:txBody>
      </p:sp>
      <p:sp>
        <p:nvSpPr>
          <p:cNvPr id="5" name="Stat 1 label"/>
          <p:cNvSpPr txBox="1"/>
          <p:nvPr/>
        </p:nvSpPr>
        <p:spPr>
          <a:xfrm>
            <a:off x="822960" y="269748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automated tests passing, including headless-browser checks of the guide</a:t>
            </a:r>
            <a:endParaRPr lang="en-US" sz="1400" dirty="0"/>
          </a:p>
        </p:txBody>
      </p:sp>
      <p:sp>
        <p:nvSpPr>
          <p:cNvPr id="6" name="Stat 2 card"/>
          <p:cNvSpPr/>
          <p:nvPr/>
        </p:nvSpPr>
        <p:spPr>
          <a:xfrm>
            <a:off x="3390824" y="1463040"/>
            <a:ext cx="2567864" cy="2651760"/>
          </a:xfrm>
          <a:prstGeom prst="roundRect">
            <a:avLst>
              <a:gd name="adj" fmla="val 4273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Stat 2 number"/>
          <p:cNvSpPr txBox="1"/>
          <p:nvPr/>
        </p:nvSpPr>
        <p:spPr>
          <a:xfrm>
            <a:off x="3665144" y="16916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~$0.008</a:t>
            </a:r>
            <a:endParaRPr lang="en-US" sz="4800" dirty="0"/>
          </a:p>
        </p:txBody>
      </p:sp>
      <p:sp>
        <p:nvSpPr>
          <p:cNvPr id="8" name="Stat 2 label"/>
          <p:cNvSpPr txBox="1"/>
          <p:nvPr/>
        </p:nvSpPr>
        <p:spPr>
          <a:xfrm>
            <a:off x="3665144" y="269748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per question on Claude Sonnet 5.5 at low reasoning effort</a:t>
            </a:r>
            <a:endParaRPr lang="en-US" sz="1400" dirty="0"/>
          </a:p>
        </p:txBody>
      </p:sp>
      <p:sp>
        <p:nvSpPr>
          <p:cNvPr id="9" name="Stat 3 card"/>
          <p:cNvSpPr/>
          <p:nvPr/>
        </p:nvSpPr>
        <p:spPr>
          <a:xfrm>
            <a:off x="6233008" y="1463040"/>
            <a:ext cx="2567864" cy="2651760"/>
          </a:xfrm>
          <a:prstGeom prst="roundRect">
            <a:avLst>
              <a:gd name="adj" fmla="val 4273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Stat 3 number"/>
          <p:cNvSpPr txBox="1"/>
          <p:nvPr/>
        </p:nvSpPr>
        <p:spPr>
          <a:xfrm>
            <a:off x="6507328" y="16916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34</a:t>
            </a:r>
            <a:endParaRPr lang="en-US" sz="4800" dirty="0"/>
          </a:p>
        </p:txBody>
      </p:sp>
      <p:sp>
        <p:nvSpPr>
          <p:cNvPr id="11" name="Stat 3 label"/>
          <p:cNvSpPr txBox="1"/>
          <p:nvPr/>
        </p:nvSpPr>
        <p:spPr>
          <a:xfrm>
            <a:off x="6507328" y="269748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FireMapSim controls the helper can explain step by step</a:t>
            </a:r>
            <a:endParaRPr lang="en-US" sz="1400" dirty="0"/>
          </a:p>
        </p:txBody>
      </p:sp>
      <p:sp>
        <p:nvSpPr>
          <p:cNvPr id="12" name="Stat 4 card"/>
          <p:cNvSpPr/>
          <p:nvPr/>
        </p:nvSpPr>
        <p:spPr>
          <a:xfrm>
            <a:off x="9075191" y="1463040"/>
            <a:ext cx="2567864" cy="2651760"/>
          </a:xfrm>
          <a:prstGeom prst="roundRect">
            <a:avLst>
              <a:gd name="adj" fmla="val 4273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Stat 4 number"/>
          <p:cNvSpPr txBox="1"/>
          <p:nvPr/>
        </p:nvSpPr>
        <p:spPr>
          <a:xfrm>
            <a:off x="9349511" y="169164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0</a:t>
            </a:r>
            <a:endParaRPr lang="en-US" sz="4800" dirty="0"/>
          </a:p>
        </p:txBody>
      </p:sp>
      <p:sp>
        <p:nvSpPr>
          <p:cNvPr id="14" name="Stat 4 label"/>
          <p:cNvSpPr txBox="1"/>
          <p:nvPr/>
        </p:nvSpPr>
        <p:spPr>
          <a:xfrm>
            <a:off x="9349511" y="269748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tools given to the model, so it cannot act on the site</a:t>
            </a:r>
            <a:endParaRPr lang="en-US" sz="1400" dirty="0"/>
          </a:p>
        </p:txBody>
      </p:sp>
      <p:sp>
        <p:nvSpPr>
          <p:cNvPr id="15" name="Safeguards label"/>
          <p:cNvSpPr txBox="1"/>
          <p:nvPr/>
        </p:nvSpPr>
        <p:spPr>
          <a:xfrm>
            <a:off x="54864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SAFEGUARDS</a:t>
            </a:r>
            <a:endParaRPr lang="en-US" sz="1200" dirty="0"/>
          </a:p>
        </p:txBody>
      </p:sp>
      <p:sp>
        <p:nvSpPr>
          <p:cNvPr id="16" name="Safeguards list"/>
          <p:cNvSpPr txBox="1"/>
          <p:nvPr/>
        </p:nvSpPr>
        <p:spPr>
          <a:xfrm>
            <a:off x="548640" y="4800600"/>
            <a:ext cx="110944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Unguessable session tokens, throttled per IP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Per-session rate limit and token budget, checked before every model call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2,000-character messages; 2,048-token replies; 60 s timeout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Pasted text treated as data, not instructions; no user content in logs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Assumptions and remaining work</a:t>
            </a:r>
            <a:endParaRPr lang="en-US" sz="3600" dirty="0"/>
          </a:p>
        </p:txBody>
      </p:sp>
      <p:sp>
        <p:nvSpPr>
          <p:cNvPr id="3" name="Open items card 1"/>
          <p:cNvSpPr/>
          <p:nvPr/>
        </p:nvSpPr>
        <p:spPr>
          <a:xfrm>
            <a:off x="548640" y="1417320"/>
            <a:ext cx="5410048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Open items 1 title"/>
          <p:cNvSpPr txBox="1"/>
          <p:nvPr/>
        </p:nvSpPr>
        <p:spPr>
          <a:xfrm>
            <a:off x="914400" y="16916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Assumptions made</a:t>
            </a:r>
            <a:endParaRPr lang="en-US" sz="2200" dirty="0"/>
          </a:p>
        </p:txBody>
      </p:sp>
      <p:sp>
        <p:nvSpPr>
          <p:cNvPr id="5" name="Open items 1 list"/>
          <p:cNvSpPr txBox="1"/>
          <p:nvPr/>
        </p:nvSpPr>
        <p:spPr>
          <a:xfrm>
            <a:off x="914400" y="2331720"/>
            <a:ext cx="46785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accent2"/>
                </a:solidFill>
              </a:rPr>
              <a:t>Wind Degree is the direction the wind blows from, the standard weather and fire-modeling convention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accent2"/>
                </a:solidFill>
              </a:rPr>
              <a:t>Setting values in the prompt are correct: wind speed 0–100 km/h (default 10), Cell Resolution 2–30 m (default 30), Cell Space Dimension 50–200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accent2"/>
                </a:solidFill>
              </a:rPr>
              <a:t>Recommending specific parameter values is out of scope. The helper explains ranges and trade-offs; the user picks</a:t>
            </a:r>
            <a:endParaRPr lang="en-US" sz="1800" dirty="0"/>
          </a:p>
        </p:txBody>
      </p:sp>
      <p:sp>
        <p:nvSpPr>
          <p:cNvPr id="6" name="Open items card 2"/>
          <p:cNvSpPr/>
          <p:nvPr/>
        </p:nvSpPr>
        <p:spPr>
          <a:xfrm>
            <a:off x="6233008" y="1417320"/>
            <a:ext cx="5410048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Open items 2 title"/>
          <p:cNvSpPr txBox="1"/>
          <p:nvPr/>
        </p:nvSpPr>
        <p:spPr>
          <a:xfrm>
            <a:off x="6598768" y="16916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Engineering to-dos</a:t>
            </a:r>
            <a:endParaRPr lang="en-US" sz="2200" dirty="0"/>
          </a:p>
        </p:txBody>
      </p:sp>
      <p:sp>
        <p:nvSpPr>
          <p:cNvPr id="8" name="Open items 2 list"/>
          <p:cNvSpPr txBox="1"/>
          <p:nvPr/>
        </p:nvSpPr>
        <p:spPr>
          <a:xfrm>
            <a:off x="6598768" y="2331720"/>
            <a:ext cx="46785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accent2"/>
                </a:solidFill>
              </a:rPr>
              <a:t>Check highlight selectors on the live page; add the missing ones (Show Cell Info, Select Map Style, …)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accent2"/>
                </a:solidFill>
              </a:rPr>
              <a:t>Add a global spend cap on the OpenRouter key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accent2"/>
                </a:solidFill>
              </a:rPr>
              <a:t>Slim the container image (the server no longer needs Chromium)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accent2"/>
                </a:solidFill>
              </a:rPr>
              <a:t>Streaming replies (POST /chat/stream)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2"/>
                </a:solidFill>
              </a:rPr>
              <a:t>GET THE CODE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0116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u="sng" dirty="0">
                <a:solidFill>
                  <a:schemeClr val="bg1"/>
                </a:solidFill>
                <a:hlinkClick r:id="rId1" invalidUrl="" action="" tgtFrame="" tooltip="Open th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github.com/zmarcher9/fs_agentic_ai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4612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The README has the full API reference, every environment variable, model cost comparison, and known issues.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120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Start here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api/main.py · app/agent/agent.py · app/agent/prompts.py · app/agent/ui_steps.py · playwright/guide.py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c Black">
  <a:themeElements>
    <a:clrScheme name="Basic Black">
      <a:dk1>
        <a:srgbClr val="000000"/>
      </a:dk1>
      <a:lt1>
        <a:srgbClr val="FFFFFF"/>
      </a:lt1>
      <a:dk2>
        <a:srgbClr val="1A1A1A"/>
      </a:dk2>
      <a:lt2>
        <a:srgbClr val="A6A6A6"/>
      </a:lt2>
      <a:accent1>
        <a:srgbClr val="FFFFFF"/>
      </a:accent1>
      <a:accent2>
        <a:srgbClr val="D9D9D9"/>
      </a:accent2>
      <a:accent3>
        <a:srgbClr val="7F7F7F"/>
      </a:accent3>
      <a:accent4>
        <a:srgbClr val="333333"/>
      </a:accent4>
      <a:accent5>
        <a:srgbClr val="BFBFBF"/>
      </a:accent5>
      <a:accent6>
        <a:srgbClr val="595959"/>
      </a:accent6>
      <a:hlink>
        <a:srgbClr val="FFFFFF"/>
      </a:hlink>
      <a:folHlink>
        <a:srgbClr val="D9D9D9"/>
      </a:folHlink>
    </a:clrScheme>
    <a:fontScheme name="Basic Bla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FireMapSim Q&amp;A Helper</dc:title>
  <dc:subject>Overview of the FireMapSim Q&amp;A helper</dc:subject>
  <dc:creator>zmarcher9</dc:creator>
  <cp:lastModifiedBy>zmarcher9</cp:lastModifiedBy>
  <cp:revision>1</cp:revision>
  <dcterms:created xsi:type="dcterms:W3CDTF">2026-10-14T19:07:42Z</dcterms:created>
  <dcterms:modified xsi:type="dcterms:W3CDTF">2026-10-14T19:07:42Z</dcterms:modified>
</cp:coreProperties>
</file>